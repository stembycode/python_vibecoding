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81d2a75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81d2a75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81d2a75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81d2a75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1d2a75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81d2a75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f38c9b2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f38c9b2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LTgri_ayp833LZUwHPdJ7KecRx9KfdYH/view?usp=sharing" TargetMode="External"/><Relationship Id="rId4" Type="http://schemas.openxmlformats.org/officeDocument/2006/relationships/hyperlink" Target="https://drive.google.com/file/d/1Uln2LxHZGvZ1WrmMLuyke4S8OymE6iC4/view?usp=sharing" TargetMode="External"/><Relationship Id="rId5" Type="http://schemas.openxmlformats.org/officeDocument/2006/relationships/hyperlink" Target="https://drive.google.com/file/d/110kI8Z6meMUtaVpuEO2Wqn2WR99fN_JJ/view?usp=sharing" TargetMode="External"/><Relationship Id="rId6" Type="http://schemas.openxmlformats.org/officeDocument/2006/relationships/hyperlink" Target="https://drive.google.com/file/d/1gD0pNDT4-GcEG_CyqT5SNBOcf5s7a6FH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08225" y="1427925"/>
            <a:ext cx="430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</a:rPr>
              <a:t>Google Colabでvibe coding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</a:rPr>
              <a:t>～アプリ編～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421525" y="149522"/>
            <a:ext cx="811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000" u="sng">
                <a:solidFill>
                  <a:schemeClr val="dk2"/>
                </a:solidFill>
              </a:rPr>
              <a:t>vibe coding</a:t>
            </a:r>
            <a:endParaRPr b="1" sz="2000" u="sng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人間は「何を作りたいか」をAIに依頼すれば、AIがコーディングを実行。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545744" y="1562487"/>
            <a:ext cx="837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・「</a:t>
            </a:r>
            <a:r>
              <a:rPr lang="ja" sz="1800">
                <a:solidFill>
                  <a:schemeClr val="dk2"/>
                </a:solidFill>
              </a:rPr>
              <a:t>依頼の精度</a:t>
            </a:r>
            <a:r>
              <a:rPr lang="ja" sz="1800">
                <a:solidFill>
                  <a:schemeClr val="dk2"/>
                </a:solidFill>
              </a:rPr>
              <a:t>」が、AIが行うコーディングの質に影響する。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45744" y="2227820"/>
            <a:ext cx="84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・依頼の精度を上げるためには、（やっぱり）プログラミングの知識が必要。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45744" y="2851209"/>
            <a:ext cx="811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・この講義は作りたいアプリをAIにうまくコーディングさせるための最低限の知識を身に付けることが目的。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60712" y="3782863"/>
            <a:ext cx="8044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・あとは自身で（AIを使いながら）実問題に取り組みながら必要な知識を身に付けていく、という方向で。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182250" y="134550"/>
            <a:ext cx="747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 u="sng">
                <a:solidFill>
                  <a:schemeClr val="dk2"/>
                </a:solidFill>
              </a:rPr>
              <a:t>プログラミング環境としてGoogle Colaboratoryを使用します。</a:t>
            </a:r>
            <a:endParaRPr sz="1800" u="sng">
              <a:solidFill>
                <a:schemeClr val="dk2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224275" y="1293350"/>
            <a:ext cx="837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〇サイドバーGemni(2.5flash)を使いながら簡単にvibe codingを実現できる。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21529" y="2265200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×コーディング精度はChatGPT-5やGemini2.5proに劣る。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81333" y="3404454"/>
            <a:ext cx="588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⇒Python入門などの初歩的なやり取りなら問題なし。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21529" y="2768973"/>
            <a:ext cx="811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×１日の使用上限が存在する。（ある時点でエラーしか返ってこなくなる。）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23439" y="3893275"/>
            <a:ext cx="6393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vibe codingに慣れたころに、ChatGPT-5+Google Colab.とか、Codex+VS Codeなどに移ればよい。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265800" y="13457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 u="sng">
                <a:solidFill>
                  <a:schemeClr val="dk1"/>
                </a:solidFill>
              </a:rPr>
              <a:t>単元ごとの進め方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530800" y="672832"/>
            <a:ext cx="703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１．スライドでプログラミングの概念を勉強する。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33674" y="1356025"/>
            <a:ext cx="84225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２．Google Colabで演習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「現単元までに習ったことを使ってvibe codingで何か簡単なコードを作り、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　動かして。このとき、現単元で習ったことは必ず使うようにすること。」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60834" y="2667207"/>
            <a:ext cx="8422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サイドバーGeminiを使ったQ&amp;Aセッションで理解を深める。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・「このコードでは、今回習った〇〇はどこで使われていますか。」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・「このコードの××の部分について、なぜ△△を使っているのですか。」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・「ここまでの内容は大体わかりました。理解確認のためのの問題を出してください。」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・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265800" y="134575"/>
            <a:ext cx="43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 u="sng">
                <a:solidFill>
                  <a:schemeClr val="dk1"/>
                </a:solidFill>
              </a:rPr>
              <a:t>本編</a:t>
            </a:r>
            <a:endParaRPr sz="1800" u="sng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595709" y="930575"/>
            <a:ext cx="5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１．</a:t>
            </a:r>
            <a:r>
              <a:rPr lang="ja" sz="1800" u="sng">
                <a:solidFill>
                  <a:schemeClr val="hlink"/>
                </a:solidFill>
                <a:hlinkClick r:id="rId3"/>
              </a:rPr>
              <a:t>標準入出力・データ型・配列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95709" y="1531514"/>
            <a:ext cx="5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２</a:t>
            </a:r>
            <a:r>
              <a:rPr lang="ja" sz="1800">
                <a:solidFill>
                  <a:schemeClr val="dk2"/>
                </a:solidFill>
              </a:rPr>
              <a:t>．</a:t>
            </a:r>
            <a:r>
              <a:rPr lang="ja" sz="1800" u="sng">
                <a:solidFill>
                  <a:schemeClr val="hlink"/>
                </a:solidFill>
                <a:hlinkClick r:id="rId4"/>
              </a:rPr>
              <a:t>制御構造：繰り返しと分岐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95709" y="2132475"/>
            <a:ext cx="5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３</a:t>
            </a:r>
            <a:r>
              <a:rPr lang="ja" sz="1800">
                <a:solidFill>
                  <a:schemeClr val="dk2"/>
                </a:solidFill>
              </a:rPr>
              <a:t>．</a:t>
            </a:r>
            <a:r>
              <a:rPr lang="ja" sz="1800" u="sng">
                <a:solidFill>
                  <a:schemeClr val="hlink"/>
                </a:solidFill>
                <a:hlinkClick r:id="rId5"/>
              </a:rPr>
              <a:t>関数・クラス・モジュール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595709" y="2683596"/>
            <a:ext cx="5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2"/>
                </a:solidFill>
              </a:rPr>
              <a:t>４</a:t>
            </a:r>
            <a:r>
              <a:rPr lang="ja" sz="1800">
                <a:solidFill>
                  <a:schemeClr val="dk2"/>
                </a:solidFill>
              </a:rPr>
              <a:t>．</a:t>
            </a:r>
            <a:r>
              <a:rPr lang="ja" sz="1800" u="sng">
                <a:solidFill>
                  <a:schemeClr val="hlink"/>
                </a:solidFill>
                <a:hlinkClick r:id="rId6"/>
              </a:rPr>
              <a:t>外部連携：pipとAPI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